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6045"/>
                </a:solidFill>
              </a:defRPr>
            </a:pPr>
            <a:r>
              <a:t>akimai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7064"/>
                </a:solidFill>
              </a:defRPr>
            </a:pPr>
            <a:r>
              <a:t>Кредитный кабинет предпринимателя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241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53A2D"/>
                </a:solidFill>
              </a:defRPr>
            </a:pPr>
            <a:r>
              <a:t>Адаптивная анкета → лента продуктов → демо-заявка → обработка и решение.</a:t>
            </a:r>
          </a:p>
          <a:p>
            <a:pPr>
              <a:spcAft>
                <a:spcPts val="1600"/>
              </a:spcAft>
              <a:defRPr sz="2100">
                <a:solidFill>
                  <a:srgbClr val="153A2D"/>
                </a:solidFill>
              </a:defRPr>
            </a:pPr>
            <a:r>
              <a:t>Цель прототипа — объяснимо сопоставить задачу бизнеса с конкретными кредитными предложениями.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7064"/>
                </a:solidFill>
              </a:defRPr>
            </a:pPr>
            <a:r>
              <a:t>akimai · демо-прототип · синтетические заявки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6045"/>
                </a:solidFill>
              </a:defRPr>
            </a:pPr>
            <a:r>
              <a:t>Проблема и решение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7064"/>
                </a:solidFill>
              </a:defRPr>
            </a:pPr>
            <a:r>
              <a:t>Предприниматель часто не знает, какой инструмент ему нужен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241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53A2D"/>
                </a:solidFill>
              </a:defRPr>
            </a:pPr>
            <a:r>
              <a:t>Система спрашивает про отрасль, денежный цикл, этапность расходов, обеспечение и способность платить.</a:t>
            </a:r>
          </a:p>
          <a:p>
            <a:pPr>
              <a:spcAft>
                <a:spcPts val="1600"/>
              </a:spcAft>
              <a:defRPr sz="2100">
                <a:solidFill>
                  <a:srgbClr val="153A2D"/>
                </a:solidFill>
              </a:defRPr>
            </a:pPr>
            <a:r>
              <a:t>Вопросы ветвятся: строительство не получает аграрные подсказки, кассовый разрыв ведёт к коротким инструментам.</a:t>
            </a:r>
          </a:p>
          <a:p>
            <a:pPr>
              <a:spcAft>
                <a:spcPts val="1600"/>
              </a:spcAft>
              <a:defRPr sz="2100">
                <a:solidFill>
                  <a:srgbClr val="153A2D"/>
                </a:solidFill>
              </a:defRPr>
            </a:pPr>
            <a:r>
              <a:t>ИИ извлекает факты из свободного текста, но правила сохраняют контроль над маршрутом и допуском.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7064"/>
                </a:solidFill>
              </a:defRPr>
            </a:pPr>
            <a:r>
              <a:t>akimai · демо-прототип · синтетические заявки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6045"/>
                </a:solidFill>
              </a:defRPr>
            </a:pPr>
            <a:r>
              <a:t>Сквозной путь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7064"/>
                </a:solidFill>
              </a:defRPr>
            </a:pPr>
            <a:r>
              <a:t>От задачи до проверяемого демо-решения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241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53A2D"/>
                </a:solidFill>
              </a:defRPr>
            </a:pPr>
            <a:r>
              <a:t>1 · анкета и нормализованный профиль</a:t>
            </a:r>
          </a:p>
          <a:p>
            <a:pPr>
              <a:spcAft>
                <a:spcPts val="1600"/>
              </a:spcAft>
              <a:defRPr sz="2100">
                <a:solidFill>
                  <a:srgbClr val="153A2D"/>
                </a:solidFill>
              </a:defRPr>
            </a:pPr>
            <a:r>
              <a:t>2 · фильтры каталога и объяснимый рейтинг</a:t>
            </a:r>
          </a:p>
          <a:p>
            <a:pPr>
              <a:spcAft>
                <a:spcPts val="1600"/>
              </a:spcAft>
              <a:defRPr sz="2100">
                <a:solidFill>
                  <a:srgbClr val="153A2D"/>
                </a:solidFill>
              </a:defRPr>
            </a:pPr>
            <a:r>
              <a:t>3 · заявка со статусом submitted</a:t>
            </a:r>
          </a:p>
          <a:p>
            <a:pPr>
              <a:spcAft>
                <a:spcPts val="1600"/>
              </a:spcAft>
              <a:defRPr sz="2100">
                <a:solidFill>
                  <a:srgbClr val="153A2D"/>
                </a:solidFill>
              </a:defRPr>
            </a:pPr>
            <a:r>
              <a:t>4 · worker → under_review или needs_info</a:t>
            </a:r>
          </a:p>
          <a:p>
            <a:pPr>
              <a:spcAft>
                <a:spcPts val="1600"/>
              </a:spcAft>
              <a:defRPr sz="2100">
                <a:solidFill>
                  <a:srgbClr val="153A2D"/>
                </a:solidFill>
              </a:defRPr>
            </a:pPr>
            <a:r>
              <a:t>5 · эксперт → approved или rejected с событием и комментарием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7064"/>
                </a:solidFill>
              </a:defRPr>
            </a:pPr>
            <a:r>
              <a:t>akimai · демо-прототип · синтетические заявки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6045"/>
                </a:solidFill>
              </a:defRPr>
            </a:pPr>
            <a:r>
              <a:t>Архитектура и данные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7064"/>
                </a:solidFill>
              </a:defRPr>
            </a:pPr>
            <a:r>
              <a:t>FastAPI + PostgreSQL + worker + Yandex AI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241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53A2D"/>
                </a:solidFill>
              </a:defRPr>
            </a:pPr>
            <a:r>
              <a:t>PostgreSQL хранит сессии, сообщения, продукты, заявки и полный таймлайн событий.</a:t>
            </a:r>
          </a:p>
          <a:p>
            <a:pPr>
              <a:spcAft>
                <a:spcPts val="1600"/>
              </a:spcAft>
              <a:defRPr sz="2100">
                <a:solidFill>
                  <a:srgbClr val="153A2D"/>
                </a:solidFill>
              </a:defRPr>
            </a:pPr>
            <a:r>
              <a:t>Worker приоритизирует пользовательскую первичную проверку над медленной проверкой страниц источников.</a:t>
            </a:r>
          </a:p>
          <a:p>
            <a:pPr>
              <a:spcAft>
                <a:spcPts val="1600"/>
              </a:spcAft>
              <a:defRPr sz="2100">
                <a:solidFill>
                  <a:srgbClr val="153A2D"/>
                </a:solidFill>
              </a:defRPr>
            </a:pPr>
            <a:r>
              <a:t>OpenAPI и Postman-коллекция лежат в комплекте сдачи.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7064"/>
                </a:solidFill>
              </a:defRPr>
            </a:pPr>
            <a:r>
              <a:t>akimai · демо-прототип · синтетические заявки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6045"/>
                </a:solidFill>
              </a:defRPr>
            </a:pPr>
            <a:r>
              <a:t>Как выбирается продукт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7064"/>
                </a:solidFill>
              </a:defRPr>
            </a:pPr>
            <a:r>
              <a:t>Жёсткие фильтры → баллы → сортировка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241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53A2D"/>
                </a:solidFill>
              </a:defRPr>
            </a:pPr>
            <a:r>
              <a:t>Отсекаются несовпадения цели, суммы и обеспечения.</a:t>
            </a:r>
          </a:p>
          <a:p>
            <a:pPr>
              <a:spcAft>
                <a:spcPts val="1600"/>
              </a:spcAft>
              <a:defRPr sz="2100">
                <a:solidFill>
                  <a:srgbClr val="153A2D"/>
                </a:solidFill>
              </a:defRPr>
            </a:pPr>
            <a:r>
              <a:t>Баллы: инструмент 22–35, денежный цикл 0–20, каталог 16–20, платёж 0–15, скорость 0–5, ИИ 0–5.</a:t>
            </a:r>
          </a:p>
          <a:p>
            <a:pPr>
              <a:spcAft>
                <a:spcPts val="1600"/>
              </a:spcAft>
              <a:defRPr sz="2100">
                <a:solidFill>
                  <a:srgbClr val="153A2D"/>
                </a:solidFill>
              </a:defRPr>
            </a:pPr>
            <a:r>
              <a:t>Это соответствие модели, а не вероятность одобрения; предложения помечены unverified.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7064"/>
                </a:solidFill>
              </a:defRPr>
            </a:pPr>
            <a:r>
              <a:t>akimai · демо-прототип · синтетические заявки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D6045"/>
                </a:solidFill>
              </a:defRPr>
            </a:pPr>
            <a:r>
              <a:t>Результат и границы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9844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7064"/>
                </a:solidFill>
              </a:defRPr>
            </a:pPr>
            <a:r>
              <a:t>Демо можно повторить без устных пояснений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2412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53A2D"/>
                </a:solidFill>
              </a:defRPr>
            </a:pPr>
            <a:r>
              <a:t>Есть роли предпринимателя и эксперта, две заранее подготовленные синтетические заявки и сценарии уточнения.</a:t>
            </a:r>
          </a:p>
          <a:p>
            <a:pPr>
              <a:spcAft>
                <a:spcPts val="1600"/>
              </a:spcAft>
              <a:defRPr sz="2100">
                <a:solidFill>
                  <a:srgbClr val="153A2D"/>
                </a:solidFill>
              </a:defRPr>
            </a:pPr>
            <a:r>
              <a:t>Есть локальные тесты, браузерный smoke-тест и отдельные схемы архитектуры, состояний и данных.</a:t>
            </a:r>
          </a:p>
          <a:p>
            <a:pPr>
              <a:spcAft>
                <a:spcPts val="1600"/>
              </a:spcAft>
              <a:defRPr sz="2100">
                <a:solidFill>
                  <a:srgbClr val="153A2D"/>
                </a:solidFill>
              </a:defRPr>
            </a:pPr>
            <a:r>
              <a:t>Не имитируем реальный банк, БКИ, ЭЦП или юридически значимое решение — это явно обозначено в документации.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4652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7064"/>
                </a:solidFill>
              </a:defRPr>
            </a:pPr>
            <a:r>
              <a:t>akimai · демо-прототип · синтетические заявки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